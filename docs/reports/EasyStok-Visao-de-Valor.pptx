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7" r:id="rId1"/>
    <p:sldId id="258" r:id="rId2"/>
    <p:sldId id="259" r:id="rId3"/>
    <p:sldId id="260" r:id="rId4"/>
    <p:sldId id="261" r:id="rId5"/>
    <p:sldId id="262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8F7A"/>
          </a:solidFill>
          <a:ln w="12700">
            <a:solidFill>
              <a:srgbClr val="168F7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EasyStok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Visao de valor do produto</a:t>
            </a:r>
            <a:endParaRPr lang="pt-BR" sz="1800"/>
          </a:p>
        </p:txBody>
      </p:sp>
      <p:sp>
        <p:nvSpPr>
          <p:cNvPr id="25" name="Bullets 25"/>
          <p:cNvSpPr txBox="1"/>
          <p:nvPr/>
        </p:nvSpPr>
        <p:spPr>
          <a:xfrm>
            <a:off x="820000" y="1700000"/>
            <a:ext cx="102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Web/API robusto + mobile operacional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Foco: cozinhas, delivery e producao de alimentos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Do improviso para processo: pedido, lote, etiqueta, conferencia, caixa e sync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1</a:t>
            </a:r>
            <a:endParaRPr lang="pt-B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B78122"/>
          </a:solidFill>
          <a:ln w="12700">
            <a:solidFill>
              <a:srgbClr val="B78122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Tese central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O produto nao e so controle de estoque</a:t>
            </a:r>
            <a:endParaRPr lang="pt-BR" sz="1800"/>
          </a:p>
        </p:txBody>
      </p:sp>
      <p:sp>
        <p:nvSpPr>
          <p:cNvPr id="25" name="Bullets 25"/>
          <p:cNvSpPr txBox="1"/>
          <p:nvPr/>
        </p:nvSpPr>
        <p:spPr>
          <a:xfrm>
            <a:off x="820000" y="1700000"/>
            <a:ext cx="102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E uma operacao conectada para pequenos negocios de comida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O mobile resolve o chao da operacao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O Web/API sustenta crescimento, multi-tenant, analytics e integracao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2</a:t>
            </a:r>
            <a:endParaRPr lang="pt-B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CF5738"/>
          </a:solidFill>
          <a:ln w="12700">
            <a:solidFill>
              <a:srgbClr val="CF573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Board de valor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O que ja existe aumenta a percepcao de produto real</a:t>
            </a:r>
            <a:endParaRPr lang="pt-BR" sz="1800"/>
          </a:p>
        </p:txBody>
      </p:sp>
      <p:sp>
        <p:nvSpPr>
          <p:cNvPr id="24" name="Shape 24"/>
          <p:cNvSpPr/>
          <p:nvPr/>
        </p:nvSpPr>
        <p:spPr>
          <a:xfrm>
            <a:off x="750000" y="165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90000" y="187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CF5738"/>
                </a:solidFill>
                <a:latin typeface="Segoe UI"/>
              </a:rPr>
              <a:t>Web/API</a:t>
            </a:r>
            <a:endParaRPr lang="pt-BR" sz="1800"/>
          </a:p>
        </p:txBody>
      </p:sp>
      <p:sp>
        <p:nvSpPr>
          <p:cNvPr id="26" name="Text 26"/>
          <p:cNvSpPr txBox="1"/>
          <p:nvPr/>
        </p:nvSpPr>
        <p:spPr>
          <a:xfrm>
            <a:off x="990000" y="226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SaaS multi-tenant, auth, estoque, vendas, analytics e fornecedores</a:t>
            </a:r>
            <a:endParaRPr lang="pt-BR" sz="1400"/>
          </a:p>
        </p:txBody>
      </p:sp>
      <p:sp>
        <p:nvSpPr>
          <p:cNvPr id="26" name="Shape 26"/>
          <p:cNvSpPr/>
          <p:nvPr/>
        </p:nvSpPr>
        <p:spPr>
          <a:xfrm>
            <a:off x="6300000" y="165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540000" y="187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CF5738"/>
                </a:solidFill>
                <a:latin typeface="Segoe UI"/>
              </a:rPr>
              <a:t>Mobile</a:t>
            </a:r>
            <a:endParaRPr lang="pt-BR" sz="1800"/>
          </a:p>
        </p:txBody>
      </p:sp>
      <p:sp>
        <p:nvSpPr>
          <p:cNvPr id="28" name="Text 28"/>
          <p:cNvSpPr txBox="1"/>
          <p:nvPr/>
        </p:nvSpPr>
        <p:spPr>
          <a:xfrm>
            <a:off x="6540000" y="226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Pedido, producao, etiquetas, conferencia, caixa, cobranca e diagnostico</a:t>
            </a:r>
            <a:endParaRPr lang="pt-BR" sz="1400"/>
          </a:p>
        </p:txBody>
      </p:sp>
      <p:sp>
        <p:nvSpPr>
          <p:cNvPr id="28" name="Shape 28"/>
          <p:cNvSpPr/>
          <p:nvPr/>
        </p:nvSpPr>
        <p:spPr>
          <a:xfrm>
            <a:off x="750000" y="350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90000" y="372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CF5738"/>
                </a:solidFill>
                <a:latin typeface="Segoe UI"/>
              </a:rPr>
              <a:t>Arquitetura</a:t>
            </a:r>
            <a:endParaRPr lang="pt-BR" sz="1800"/>
          </a:p>
        </p:txBody>
      </p:sp>
      <p:sp>
        <p:nvSpPr>
          <p:cNvPr id="30" name="Text 30"/>
          <p:cNvSpPr txBox="1"/>
          <p:nvPr/>
        </p:nvSpPr>
        <p:spPr>
          <a:xfrm>
            <a:off x="990000" y="411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.NET 9, Clean Architecture, DDD, CQRS, testes e infra multi-banco</a:t>
            </a:r>
            <a:endParaRPr lang="pt-BR" sz="1400"/>
          </a:p>
        </p:txBody>
      </p:sp>
      <p:sp>
        <p:nvSpPr>
          <p:cNvPr id="30" name="Shape 30"/>
          <p:cNvSpPr/>
          <p:nvPr/>
        </p:nvSpPr>
        <p:spPr>
          <a:xfrm>
            <a:off x="6300000" y="350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540000" y="372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CF5738"/>
                </a:solidFill>
                <a:latin typeface="Segoe UI"/>
              </a:rPr>
              <a:t>Integracao</a:t>
            </a:r>
            <a:endParaRPr lang="pt-BR" sz="1800"/>
          </a:p>
        </p:txBody>
      </p:sp>
      <p:sp>
        <p:nvSpPr>
          <p:cNvPr id="32" name="Text 32"/>
          <p:cNvSpPr txBox="1"/>
          <p:nvPr/>
        </p:nvSpPr>
        <p:spPr>
          <a:xfrm>
            <a:off x="6540000" y="411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Mobile como braco operacional do ERP/web</a:t>
            </a:r>
            <a:endParaRPr lang="pt-BR" sz="1400"/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3</a:t>
            </a:r>
            <a:endParaRPr lang="pt-B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8F7A"/>
          </a:solidFill>
          <a:ln w="12700">
            <a:solidFill>
              <a:srgbClr val="168F7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Preco sugerido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Comecar com beta pago e evoluir com validacao real</a:t>
            </a:r>
            <a:endParaRPr lang="pt-BR" sz="1800"/>
          </a:p>
        </p:txBody>
      </p:sp>
      <p:sp>
        <p:nvSpPr>
          <p:cNvPr id="24" name="Shape 24"/>
          <p:cNvSpPr/>
          <p:nvPr/>
        </p:nvSpPr>
        <p:spPr>
          <a:xfrm>
            <a:off x="750000" y="165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90000" y="187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168F7A"/>
                </a:solidFill>
                <a:latin typeface="Segoe UI"/>
              </a:rPr>
              <a:t>Mobile beta</a:t>
            </a:r>
            <a:endParaRPr lang="pt-BR" sz="1800"/>
          </a:p>
        </p:txBody>
      </p:sp>
      <p:sp>
        <p:nvSpPr>
          <p:cNvPr id="26" name="Text 26"/>
          <p:cNvSpPr txBox="1"/>
          <p:nvPr/>
        </p:nvSpPr>
        <p:spPr>
          <a:xfrm>
            <a:off x="990000" y="226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R$ 79 a R$ 129 / mes</a:t>
            </a:r>
            <a:endParaRPr lang="pt-BR" sz="1400"/>
          </a:p>
        </p:txBody>
      </p:sp>
      <p:sp>
        <p:nvSpPr>
          <p:cNvPr id="26" name="Shape 26"/>
          <p:cNvSpPr/>
          <p:nvPr/>
        </p:nvSpPr>
        <p:spPr>
          <a:xfrm>
            <a:off x="6300000" y="165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540000" y="187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168F7A"/>
                </a:solidFill>
                <a:latin typeface="Segoe UI"/>
              </a:rPr>
              <a:t>Web + Mobile beta</a:t>
            </a:r>
            <a:endParaRPr lang="pt-BR" sz="1800"/>
          </a:p>
        </p:txBody>
      </p:sp>
      <p:sp>
        <p:nvSpPr>
          <p:cNvPr id="28" name="Text 28"/>
          <p:cNvSpPr txBox="1"/>
          <p:nvPr/>
        </p:nvSpPr>
        <p:spPr>
          <a:xfrm>
            <a:off x="6540000" y="226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R$ 149 a R$ 249 / mes</a:t>
            </a:r>
            <a:endParaRPr lang="pt-BR" sz="1400"/>
          </a:p>
        </p:txBody>
      </p:sp>
      <p:sp>
        <p:nvSpPr>
          <p:cNvPr id="28" name="Shape 28"/>
          <p:cNvSpPr/>
          <p:nvPr/>
        </p:nvSpPr>
        <p:spPr>
          <a:xfrm>
            <a:off x="750000" y="350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90000" y="372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168F7A"/>
                </a:solidFill>
                <a:latin typeface="Segoe UI"/>
              </a:rPr>
              <a:t>Setup inicial</a:t>
            </a:r>
            <a:endParaRPr lang="pt-BR" sz="1800"/>
          </a:p>
        </p:txBody>
      </p:sp>
      <p:sp>
        <p:nvSpPr>
          <p:cNvPr id="30" name="Text 30"/>
          <p:cNvSpPr txBox="1"/>
          <p:nvPr/>
        </p:nvSpPr>
        <p:spPr>
          <a:xfrm>
            <a:off x="990000" y="411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R$ 297 a R$ 700</a:t>
            </a:r>
            <a:endParaRPr lang="pt-BR" sz="1400"/>
          </a:p>
        </p:txBody>
      </p:sp>
      <p:sp>
        <p:nvSpPr>
          <p:cNvPr id="30" name="Shape 30"/>
          <p:cNvSpPr/>
          <p:nvPr/>
        </p:nvSpPr>
        <p:spPr>
          <a:xfrm>
            <a:off x="6300000" y="3500000"/>
            <a:ext cx="5000000" cy="1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6C8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540000" y="3720000"/>
            <a:ext cx="4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 b="1">
                <a:solidFill>
                  <a:srgbClr val="168F7A"/>
                </a:solidFill>
                <a:latin typeface="Segoe UI"/>
              </a:rPr>
              <a:t>Plano estavel</a:t>
            </a:r>
            <a:endParaRPr lang="pt-BR" sz="1800"/>
          </a:p>
        </p:txBody>
      </p:sp>
      <p:sp>
        <p:nvSpPr>
          <p:cNvPr id="32" name="Text 32"/>
          <p:cNvSpPr txBox="1"/>
          <p:nvPr/>
        </p:nvSpPr>
        <p:spPr>
          <a:xfrm>
            <a:off x="6540000" y="4110000"/>
            <a:ext cx="43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400">
                <a:solidFill>
                  <a:srgbClr val="172033"/>
                </a:solidFill>
                <a:latin typeface="Segoe UI"/>
              </a:rPr>
              <a:t>R$ 299 a R$ 499 / mes</a:t>
            </a:r>
            <a:endParaRPr lang="pt-BR" sz="1400"/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4</a:t>
            </a:r>
            <a:endParaRPr lang="pt-B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B78122"/>
          </a:solidFill>
          <a:ln w="12700">
            <a:solidFill>
              <a:srgbClr val="B78122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Valor do projeto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Como ativo tecnico e comercial</a:t>
            </a:r>
            <a:endParaRPr lang="pt-BR" sz="1800"/>
          </a:p>
        </p:txBody>
      </p:sp>
      <p:sp>
        <p:nvSpPr>
          <p:cNvPr id="25" name="Bullets 25"/>
          <p:cNvSpPr txBox="1"/>
          <p:nvPr/>
        </p:nvSpPr>
        <p:spPr>
          <a:xfrm>
            <a:off x="820000" y="1700000"/>
            <a:ext cx="102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Valor acumulado de desenvolvimento: R$ 40k a R$ 120k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Projeto customizado similar dificilmente abaixo de R$ 25k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Como SaaS, 20 clientes a R$ 249/mes ~= R$ 5k MRR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Maior ativo: produto com dor clara e uso operacional diario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5</a:t>
            </a:r>
            <a:endParaRPr lang="pt-B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CF5738"/>
          </a:solidFill>
          <a:ln w="12700">
            <a:solidFill>
              <a:srgbClr val="CF573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50000" y="250000"/>
            <a:ext cx="76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400" b="1">
                <a:solidFill>
                  <a:srgbClr val="FFFFFF"/>
                </a:solidFill>
                <a:latin typeface="Segoe UI"/>
              </a:rPr>
              <a:t>Proximos passos</a:t>
            </a:r>
            <a:endParaRPr lang="pt-BR" sz="3400"/>
          </a:p>
        </p:txBody>
      </p:sp>
      <p:sp>
        <p:nvSpPr>
          <p:cNvPr id="22" name="Text 22"/>
          <p:cNvSpPr txBox="1"/>
          <p:nvPr/>
        </p:nvSpPr>
        <p:spPr>
          <a:xfrm>
            <a:off x="650000" y="85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800">
                <a:solidFill>
                  <a:srgbClr val="637083"/>
                </a:solidFill>
                <a:latin typeface="Segoe UI"/>
              </a:rPr>
              <a:t>Sem perder foco antes da integracao ERP</a:t>
            </a:r>
            <a:endParaRPr lang="pt-BR" sz="1800"/>
          </a:p>
        </p:txBody>
      </p:sp>
      <p:sp>
        <p:nvSpPr>
          <p:cNvPr id="25" name="Bullets 25"/>
          <p:cNvSpPr txBox="1"/>
          <p:nvPr/>
        </p:nvSpPr>
        <p:spPr>
          <a:xfrm>
            <a:off x="820000" y="1700000"/>
            <a:ext cx="102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Branding da loja e recibo moderno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Modo apresentacao/demo para vender melhor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Qualidade de operacao: lote, operador, validade, etiqueta e conferencia</a:t>
            </a:r>
          </a:p>
          <a:p>
            <a:pPr marL="285750" indent="-171450">
              <a:buChar char="?"/>
            </a:pPr>
            <a:r>
              <a:rPr lang="pt-BR" sz="2200">
                <a:solidFill>
                  <a:srgbClr val="172033"/>
                </a:solidFill>
                <a:latin typeface="Segoe UI"/>
              </a:rPr>
              <a:t>Export operacional e trilha de integracao com ERP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0000" y="6400000"/>
            <a:ext cx="5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EasyStok - visao de valor</a:t>
            </a:r>
            <a:endParaRPr lang="pt-BR" sz="1000"/>
          </a:p>
        </p:txBody>
      </p:sp>
      <p:sp>
        <p:nvSpPr>
          <p:cNvPr id="24" name="Text 24"/>
          <p:cNvSpPr txBox="1"/>
          <p:nvPr/>
        </p:nvSpPr>
        <p:spPr>
          <a:xfrm>
            <a:off x="11100000" y="6400000"/>
            <a:ext cx="50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000">
                <a:solidFill>
                  <a:srgbClr val="637083"/>
                </a:solidFill>
                <a:latin typeface="Segoe UI"/>
              </a:rPr>
              <a:t>6</a:t>
            </a:r>
            <a:endParaRPr lang="pt-B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syStok">
  <a:themeElements>
    <a:clrScheme name="EasyStok">
      <a:dk1>
        <a:srgbClr val="172033"/>
      </a:dk1>
      <a:lt1>
        <a:srgbClr val="F7F4EE"/>
      </a:lt1>
      <a:dk2>
        <a:srgbClr val="111827"/>
      </a:dk2>
      <a:lt2>
        <a:srgbClr val="FFFFFF"/>
      </a:lt2>
      <a:accent1>
        <a:srgbClr val="168F7A"/>
      </a:accent1>
      <a:accent2>
        <a:srgbClr val="B78122"/>
      </a:accent2>
      <a:accent3>
        <a:srgbClr val="CF5738"/>
      </a:accent3>
      <a:accent4>
        <a:srgbClr val="637083"/>
      </a:accent4>
      <a:accent5>
        <a:srgbClr val="DED6C8"/>
      </a:accent5>
      <a:accent6>
        <a:srgbClr val="F7F4EE"/>
      </a:accent6>
      <a:hlink>
        <a:srgbClr val="168F7A"/>
      </a:hlink>
      <a:folHlink>
        <a:srgbClr val="B78122"/>
      </a:folHlink>
    </a:clrScheme>
    <a:fontScheme name="Segoe">
      <a:majorFont>
        <a:latin typeface="Segoe UI"/>
      </a:majorFont>
      <a:minorFont>
        <a:latin typeface="Segoe UI"/>
      </a:minorFont>
    </a:fontScheme>
    <a:fmtScheme name="Easy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